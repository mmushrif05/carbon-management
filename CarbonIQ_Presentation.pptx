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914400"/>
            <a:ext cx="5943600" cy="5029200"/>
          </a:xfrm>
          <a:prstGeom prst="ellipse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457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2C55E"/>
                </a:solidFill>
                <a:latin typeface="Segoe UI"/>
              </a:rPr>
              <a:t>COMPETITION SUBMISSION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1F5F9"/>
                </a:solidFill>
                <a:latin typeface="Segoe UI"/>
              </a:rPr>
              <a:t>Carbon</a:t>
            </a:r>
            <a:r>
              <a:rPr sz="7200" b="1">
                <a:solidFill>
                  <a:srgbClr val="22C55E"/>
                </a:solidFill>
                <a:latin typeface="Segoe UI"/>
              </a:rPr>
              <a:t>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The world's first multi-stakeholder construction carbon accountability platform
— from tender document to site completion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77639"/>
            <a:ext cx="2377440" cy="10058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0507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C55E"/>
                </a:solidFill>
                <a:latin typeface="Segoe UI"/>
              </a:rPr>
              <a:t>A1–A5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07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Full Lifecycle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3977639"/>
            <a:ext cx="2377440" cy="10058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40507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0A5FA"/>
                </a:solidFill>
                <a:latin typeface="Segoe UI"/>
              </a:rPr>
              <a:t>3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4507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Intelligence Engines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977639"/>
            <a:ext cx="2377440" cy="10058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0507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78BFA"/>
                </a:solidFill>
                <a:latin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507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Certifications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3977639"/>
            <a:ext cx="2377440" cy="10058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40507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B923C"/>
                </a:solidFill>
                <a:latin typeface="Segoe UI"/>
              </a:rPr>
              <a:t>IoT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507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Real-time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Segoe UI"/>
              </a:rPr>
              <a:t>Construction carbon is invisible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1F5F9"/>
                </a:solidFill>
                <a:latin typeface="Segoe UI"/>
              </a:rPr>
              <a:t>Construction carbon is </a:t>
            </a:r>
            <a:r>
              <a:rPr sz="3400" b="1">
                <a:solidFill>
                  <a:srgbClr val="22C55E"/>
                </a:solidFill>
                <a:latin typeface="Segoe UI"/>
              </a:rPr>
              <a:t>invisible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Embodied carbon is fragmented, buried in documents, and manually calculated across disconnected parties.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2743200" cy="1234440"/>
          </a:xfrm>
          <a:prstGeom prst="rect">
            <a:avLst/>
          </a:prstGeom>
          <a:solidFill>
            <a:srgbClr val="1A0A0A"/>
          </a:solidFill>
          <a:ln w="12700">
            <a:solidFill>
              <a:srgbClr val="3D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87171"/>
                </a:solidFill>
                <a:latin typeface="Segoe UI"/>
              </a:rPr>
              <a:t>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of global CO₂ emissions from construction &amp; buildings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148840"/>
            <a:ext cx="2743200" cy="1234440"/>
          </a:xfrm>
          <a:prstGeom prst="rect">
            <a:avLst/>
          </a:prstGeom>
          <a:solidFill>
            <a:srgbClr val="1A0A0A"/>
          </a:solidFill>
          <a:ln w="12700">
            <a:solidFill>
              <a:srgbClr val="3D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194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87171"/>
                </a:solidFill>
                <a:latin typeface="Segoe UI"/>
              </a:rP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51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of embodied carbon decisions locked at procurement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148840"/>
            <a:ext cx="2743200" cy="1234440"/>
          </a:xfrm>
          <a:prstGeom prst="rect">
            <a:avLst/>
          </a:prstGeom>
          <a:solidFill>
            <a:srgbClr val="1A0A0A"/>
          </a:solidFill>
          <a:ln w="12700">
            <a:solidFill>
              <a:srgbClr val="3D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87171"/>
                </a:solidFill>
                <a:latin typeface="Segoe UI"/>
              </a:rPr>
              <a:t>3-6wk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51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average to manually calculate carbon from a BOQ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2148840"/>
            <a:ext cx="2743200" cy="1234440"/>
          </a:xfrm>
          <a:prstGeom prst="rect">
            <a:avLst/>
          </a:prstGeom>
          <a:solidFill>
            <a:srgbClr val="1A0A0A"/>
          </a:solidFill>
          <a:ln w="12700">
            <a:solidFill>
              <a:srgbClr val="3D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194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87171"/>
                </a:solidFill>
                <a:latin typeface="Segoe U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651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accountability chains exist across the supply chain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11155680" cy="868680"/>
          </a:xfrm>
          <a:prstGeom prst="rect">
            <a:avLst/>
          </a:prstGeom>
          <a:solidFill>
            <a:srgbClr val="0D1A0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Segoe UI"/>
              </a:rPr>
              <a:t>"You cannot manage what you cannot measure — and in construction, nobody is measuring in time to act."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ROOT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Three failures that block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548640" cy="36576"/>
          </a:xfrm>
          <a:prstGeom prst="rect">
            <a:avLst/>
          </a:prstGeom>
          <a:solidFill>
            <a:srgbClr val="22C55E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57600" cy="457200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" cy="4572000"/>
          </a:xfrm>
          <a:prstGeom prst="rect">
            <a:avLst/>
          </a:prstGeom>
          <a:solidFill>
            <a:srgbClr val="22C55E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1F5F9"/>
                </a:solidFill>
                <a:latin typeface="Segoe UI"/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Segoe UI"/>
              </a:rPr>
              <a:t>Data Locked in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Carbon quantities sit inside BOQ spreadsheets and tender PDFs. Extracting them requires weeks of manual work by specialists — so it rarely happens before procurement decisions are made.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3657600" cy="457200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36576" cy="4572000"/>
          </a:xfrm>
          <a:prstGeom prst="rect">
            <a:avLst/>
          </a:prstGeom>
          <a:solidFill>
            <a:srgbClr val="60A5FA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1F5F9"/>
                </a:solidFill>
                <a:latin typeface="Segoe UI"/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Segoe UI"/>
              </a:rPr>
              <a:t>No Accountability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Client, consultant, and contractor each hold a piece of the puzzle — but no shared system connects them. Data is siloed, unverified, and submitted after the fact.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508760"/>
            <a:ext cx="3657600" cy="457200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508760"/>
            <a:ext cx="36576" cy="4572000"/>
          </a:xfrm>
          <a:prstGeom prst="rect">
            <a:avLst/>
          </a:prstGeom>
          <a:solidFill>
            <a:srgbClr val="FB923C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1F5F9"/>
                </a:solidFill>
                <a:latin typeface="Segoe UI"/>
              </a:rPr>
              <a:t>⏱️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Segoe UI"/>
              </a:rPr>
              <a:t>Action Too 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8346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By the time carbon is calculated, concrete is poured and steel is ordered. Reporting replaces decision-making. Post-project reports cannot change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Segoe UI"/>
              </a:rPr>
              <a:t>A Construction Carbon Accountability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Not a calculator. Not a spreadsheet plugin. A living, AI-powered platform connecting every stakeholder, automating data collection, and enforcing accountability from tender through construction.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1417320" cy="914400"/>
          </a:xfrm>
          <a:prstGeom prst="rect">
            <a:avLst/>
          </a:prstGeom>
          <a:solidFill>
            <a:srgbClr val="141D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C55E"/>
                </a:solidFill>
                <a:latin typeface="Segoe UI"/>
              </a:rPr>
              <a:t>📄 Tender 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Segoe UI"/>
              </a:rPr>
              <a:t>BOQ / PDF /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94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011680"/>
            <a:ext cx="1371600" cy="914400"/>
          </a:xfrm>
          <a:prstGeom prst="rect">
            <a:avLst/>
          </a:prstGeom>
          <a:solidFill>
            <a:srgbClr val="141D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0574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78BFA"/>
                </a:solidFill>
                <a:latin typeface="Segoe UI"/>
              </a:rPr>
              <a:t>🤖 AI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23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Segoe UI"/>
              </a:rPr>
              <a:t>Quantities Extracted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194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011680"/>
            <a:ext cx="1417320" cy="914400"/>
          </a:xfrm>
          <a:prstGeom prst="rect">
            <a:avLst/>
          </a:prstGeom>
          <a:solidFill>
            <a:srgbClr val="141D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0A5FA"/>
                </a:solidFill>
                <a:latin typeface="Segoe UI"/>
              </a:rPr>
              <a:t>⚖️ Carbon Mapped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23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Segoe UI"/>
              </a:rPr>
              <a:t>ICE DB v3.0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194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011680"/>
            <a:ext cx="1417320" cy="914400"/>
          </a:xfrm>
          <a:prstGeom prst="rect">
            <a:avLst/>
          </a:prstGeom>
          <a:solidFill>
            <a:srgbClr val="141D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20574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C55E"/>
                </a:solidFill>
                <a:latin typeface="Segoe UI"/>
              </a:rPr>
              <a:t>✅ Approved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423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Segoe UI"/>
              </a:rPr>
              <a:t>Workflow Enforced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194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11680"/>
            <a:ext cx="1417320" cy="914400"/>
          </a:xfrm>
          <a:prstGeom prst="rect">
            <a:avLst/>
          </a:prstGeom>
          <a:solidFill>
            <a:srgbClr val="141D2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0574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B923C"/>
                </a:solidFill>
                <a:latin typeface="Segoe UI"/>
              </a:rPr>
              <a:t>📊 Client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423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Segoe UI"/>
              </a:rPr>
              <a:t>Live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46120"/>
            <a:ext cx="2743200" cy="30632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246120"/>
            <a:ext cx="36576" cy="3063240"/>
          </a:xfrm>
          <a:prstGeom prst="rect">
            <a:avLst/>
          </a:prstGeom>
          <a:solidFill>
            <a:srgbClr val="22C55E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Segoe UI"/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AI Data 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07408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BOQ → carbon in seconds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246120"/>
            <a:ext cx="2743200" cy="30632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246120"/>
            <a:ext cx="36576" cy="3063240"/>
          </a:xfrm>
          <a:prstGeom prst="rect">
            <a:avLst/>
          </a:prstGeom>
          <a:solidFill>
            <a:srgbClr val="60A5FA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Segoe UI"/>
              </a:rPr>
              <a:t>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Multi-Stakeholder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407408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Client → Consultant → Contractor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246120"/>
            <a:ext cx="2743200" cy="30632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246120"/>
            <a:ext cx="36576" cy="3063240"/>
          </a:xfrm>
          <a:prstGeom prst="rect">
            <a:avLst/>
          </a:prstGeom>
          <a:solidFill>
            <a:srgbClr val="A78BFA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Segoe UI"/>
              </a:rPr>
              <a:t>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ISO 21930 Aligned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407408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A1–A5 lifecycle phases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3246120"/>
            <a:ext cx="2743200" cy="30632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81160" y="3246120"/>
            <a:ext cx="36576" cy="3063240"/>
          </a:xfrm>
          <a:prstGeom prst="rect">
            <a:avLst/>
          </a:prstGeom>
          <a:solidFill>
            <a:srgbClr val="FB923C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Segoe UI"/>
              </a:rPr>
              <a:t>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Cert-Ready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407408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LEED, BREEAM, Mostadam+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PLATFORM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One platform.  Three roles.  One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Carbon accountability only works when every party operates from the same data, with clear responsibility.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3657600" cy="475488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36576" cy="4754880"/>
          </a:xfrm>
          <a:prstGeom prst="rect">
            <a:avLst/>
          </a:prstGeom>
          <a:solidFill>
            <a:srgbClr val="22C55E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CLIENT /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Executive Oversight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Portfolio-wide carbon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36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Live A1–A5 baseline vs. 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753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Contractor performance ranking &amp;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142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Certification progress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53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Invite &amp; manage organisations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Organisation-level carbon reporting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737360"/>
            <a:ext cx="3657600" cy="475488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737360"/>
            <a:ext cx="36576" cy="4754880"/>
          </a:xfrm>
          <a:prstGeom prst="rect">
            <a:avLst/>
          </a:prstGeom>
          <a:solidFill>
            <a:srgbClr val="A78BFA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Segoe UI"/>
              </a:rPr>
              <a:t>CONSULTANT /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Project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Review &amp; approve contractor submissions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3136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AI Advisor: reduction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35753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Document Intelligence with RAG + citations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40142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Tender scenario builder &amp; forecasting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4453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Edit/delete request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Cross-project material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1737360"/>
            <a:ext cx="3657600" cy="475488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1737360"/>
            <a:ext cx="36576" cy="4754880"/>
          </a:xfrm>
          <a:prstGeom prst="rect">
            <a:avLst/>
          </a:prstGeom>
          <a:solidFill>
            <a:srgbClr val="60A5FA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0A5FA"/>
                </a:solidFill>
                <a:latin typeface="Segoe UI"/>
              </a:rPr>
              <a:t>CONTRACTOR / SUPPLIER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Compliant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Material entry: A1–A3 baseline &amp; actual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136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A4 transport emissions (road/sea/rail)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5753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A5 site energy, fuel &amp; water reporting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0142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Batch submission to consultant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453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Edit/delete requests with audit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→  Organisation-scoped data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Segoe UI"/>
              </a:rPr>
              <a:t>Full lifecycle coverage — A1 to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Most tools stop at material declarations. CarbonIQ tracks the complete construction lifecycle aligned to ISO 21930.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5029200" cy="1737360"/>
          </a:xfrm>
          <a:prstGeom prst="rect">
            <a:avLst/>
          </a:prstGeom>
          <a:solidFill>
            <a:srgbClr val="141D2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C55E"/>
                </a:solidFill>
                <a:latin typeface="Segoe UI"/>
              </a:rPr>
              <a:t>A1–A3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C55E"/>
                </a:solidFill>
                <a:latin typeface="Segoe UI"/>
              </a:rPr>
              <a:t>Product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33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Raw materials, factory transport &amp; manufacturing
8 material categories · ICE DB v3.0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50992" y="1828800"/>
            <a:ext cx="2011680" cy="1737360"/>
          </a:xfrm>
          <a:prstGeom prst="rect">
            <a:avLst/>
          </a:prstGeom>
          <a:solidFill>
            <a:srgbClr val="141D2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431" y="187451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0A5FA"/>
                </a:solidFill>
                <a:latin typeface="Segoe UI"/>
              </a:rPr>
              <a:t>A4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1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0A5FA"/>
                </a:solidFill>
                <a:latin typeface="Segoe UI"/>
              </a:rPr>
              <a:t>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1" y="263347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Road, sea &amp; rail emission factors per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81544" y="1828800"/>
            <a:ext cx="2743200" cy="1737360"/>
          </a:xfrm>
          <a:prstGeom prst="rect">
            <a:avLst/>
          </a:prstGeom>
          <a:solidFill>
            <a:srgbClr val="141D2E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2983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B923C"/>
                </a:solidFill>
                <a:latin typeface="Segoe UI"/>
              </a:rPr>
              <a:t>A5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2983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B923C"/>
                </a:solidFill>
                <a:latin typeface="Segoe UI"/>
              </a:rPr>
              <a:t>Construction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3" y="263347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Diesel · Electricity · Water
Site carbon in real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43616" y="1828800"/>
            <a:ext cx="1828800" cy="1737360"/>
          </a:xfrm>
          <a:prstGeom prst="rect">
            <a:avLst/>
          </a:prstGeom>
          <a:solidFill>
            <a:srgbClr val="141D2E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35056" y="18745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Segoe UI"/>
              </a:rPr>
              <a:t>B–C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35056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35056" y="263347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Operational &amp; end-of-life phases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94760"/>
            <a:ext cx="3657600" cy="265176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6576" cy="2651760"/>
          </a:xfrm>
          <a:prstGeom prst="rect">
            <a:avLst/>
          </a:prstGeom>
          <a:solidFill>
            <a:srgbClr val="22C55E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8 Material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07408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Concrete, Steel, Asphalt, Aluminum, Glass, Earth Work, Subgrade, Pipes — all with BAU baseline vs. actual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794760"/>
            <a:ext cx="3657600" cy="265176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794760"/>
            <a:ext cx="36576" cy="2651760"/>
          </a:xfrm>
          <a:prstGeom prst="rect">
            <a:avLst/>
          </a:prstGeom>
          <a:solidFill>
            <a:srgbClr val="60A5FA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ICE DB v3.0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4407408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University of Bath / Circular Ecology. 200+ material types mapped with coverage thresholds.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3794760"/>
            <a:ext cx="3657600" cy="265176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6760" y="3794760"/>
            <a:ext cx="36576" cy="2651760"/>
          </a:xfrm>
          <a:prstGeom prst="rect">
            <a:avLst/>
          </a:prstGeom>
          <a:solidFill>
            <a:srgbClr val="FB923C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Live Site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407408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A5 tracks diesel, gasoline, grid electricity, renewable energy, potable water and TSE recycled water.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AI 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Segoe UI"/>
              </a:rPr>
              <a:t>AI that eliminates the data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AI is not a feature — it is the engine that makes carbon accountability possible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3657600" cy="484632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36576" cy="4846320"/>
          </a:xfrm>
          <a:prstGeom prst="rect">
            <a:avLst/>
          </a:prstGeom>
          <a:solidFill>
            <a:srgbClr val="22C55E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AI ENGINE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BOQ / Tender Parser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01568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Automatically extracts quantities, units, and materials from PDF, Excel, and CSV tender documents. Maps them to ICE emission factors with fuzzy matching. Weeks of manual work done in seconds.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166360"/>
            <a:ext cx="2743200" cy="256032"/>
          </a:xfrm>
          <a:prstGeom prst="rect">
            <a:avLst/>
          </a:prstGeom>
          <a:solidFill>
            <a:srgbClr val="141D2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2C55E"/>
                </a:solidFill>
                <a:latin typeface="Segoe UI"/>
              </a:rPr>
              <a:t>Carbon at Point of Procurement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3657600" cy="484632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37360"/>
            <a:ext cx="36576" cy="4846320"/>
          </a:xfrm>
          <a:prstGeom prst="rect">
            <a:avLst/>
          </a:prstGeom>
          <a:solidFill>
            <a:srgbClr val="A78BFA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920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"/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786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Segoe UI"/>
              </a:rPr>
              <a:t>AI ENGINE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Document Intelligence (RAG)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01568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Upload CIAs, CEAPs, technical reports, material submittals. AI chunks, embeds, and retrieves relevant content to answer five analysis dimensions — with page-level citations tracing every finding to its source.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5166360"/>
            <a:ext cx="2743200" cy="256032"/>
          </a:xfrm>
          <a:prstGeom prst="rect">
            <a:avLst/>
          </a:prstGeom>
          <a:solidFill>
            <a:srgbClr val="141D2E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5166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A78BFA"/>
                </a:solidFill>
                <a:latin typeface="Segoe UI"/>
              </a:rPr>
              <a:t>Source-Cited Findings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737360"/>
            <a:ext cx="3657600" cy="484632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6760" y="1737360"/>
            <a:ext cx="36576" cy="4846320"/>
          </a:xfrm>
          <a:prstGeom prst="rect">
            <a:avLst/>
          </a:prstGeom>
          <a:solidFill>
            <a:srgbClr val="FB923C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920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5786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B923C"/>
                </a:solidFill>
                <a:latin typeface="Segoe UI"/>
              </a:rPr>
              <a:t>AI ENGINE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Carbon Advisor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401568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Per-project AI strategist that reads live contractor data, identifies who is below target, calculates exact reduction gaps, and generates prioritised material substitution and procurement recommendations.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5166360"/>
            <a:ext cx="2743200" cy="256032"/>
          </a:xfrm>
          <a:prstGeom prst="rect">
            <a:avLst/>
          </a:prstGeom>
          <a:solidFill>
            <a:srgbClr val="141D2E"/>
          </a:solidFill>
          <a:ln w="63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5166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B923C"/>
                </a:solidFill>
                <a:latin typeface="Segoe UI"/>
              </a:rPr>
              <a:t>Proactive Reduction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Segoe UI"/>
              </a:rPr>
              <a:t>Where CarbonIQ stands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548640" cy="36576"/>
          </a:xfrm>
          <a:prstGeom prst="rect">
            <a:avLst/>
          </a:prstGeom>
          <a:solidFill>
            <a:srgbClr val="22C55E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Segoe UI"/>
              </a:rPr>
              <a:t>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17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Segoe UI"/>
              </a:rPr>
              <a:t>Spreadsheets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Segoe UI"/>
              </a:rPr>
              <a:t>Point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  <a:latin typeface="Segoe UI"/>
              </a:rPr>
              <a:t>CarbonIQ ✦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1155680" cy="530352"/>
          </a:xfrm>
          <a:prstGeom prst="rect">
            <a:avLst/>
          </a:prstGeom>
          <a:solidFill>
            <a:srgbClr val="0D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Segoe UI"/>
              </a:rPr>
              <a:t>Multi-stakeholder accountability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856231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56231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Single-user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85623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✓  Client → Consultant → Contractor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50008"/>
            <a:ext cx="11155680" cy="53035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Segoe UI"/>
              </a:rPr>
              <a:t>AI BOQ / tender document 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Manual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23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Manual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23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✓  PDF, Excel, CSV auto-parsed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16936"/>
            <a:ext cx="11155680" cy="530352"/>
          </a:xfrm>
          <a:prstGeom prst="rect">
            <a:avLst/>
          </a:prstGeom>
          <a:solidFill>
            <a:srgbClr val="0D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900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Segoe UI"/>
              </a:rPr>
              <a:t>Document Intelligence with 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9900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None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900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9900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✓  RAG pipeline, page-level citations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83863"/>
            <a:ext cx="11155680" cy="53035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557015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Segoe UI"/>
              </a:rPr>
              <a:t>Full A1–A5 lifecycle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557015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Partial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57015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◑  A1–A3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557015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✓  A1–A3, A4 transport, A5 site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050791"/>
            <a:ext cx="11155680" cy="530352"/>
          </a:xfrm>
          <a:prstGeom prst="rect">
            <a:avLst/>
          </a:prstGeom>
          <a:solidFill>
            <a:srgbClr val="0D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12394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Segoe UI"/>
              </a:rPr>
              <a:t>Pre-procurement carbon forecasting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12394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Post-project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12394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Post-design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1239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✓  Tender stage scenario builder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617720"/>
            <a:ext cx="11155680" cy="53035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690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Segoe UI"/>
              </a:rPr>
              <a:t>IoT real-time site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6908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None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6908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690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✓  Roadmap Phase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184648"/>
            <a:ext cx="11155680" cy="530352"/>
          </a:xfrm>
          <a:prstGeom prst="rect">
            <a:avLst/>
          </a:prstGeom>
          <a:solidFill>
            <a:srgbClr val="0D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257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Segoe UI"/>
              </a:rPr>
              <a:t>Certification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257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7171"/>
                </a:solidFill>
                <a:latin typeface="Segoe UI"/>
              </a:rPr>
              <a:t>✗  Manual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257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◑  Limited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5257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✓  5 certifications built-in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Segoe UI"/>
              </a:rPr>
              <a:t>IoT: From reporting to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Today, A5 site data is entered manually. Tomorrow, IoT sensors stream real-time carbon from the construction site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3657600" cy="425196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36576" cy="4251960"/>
          </a:xfrm>
          <a:prstGeom prst="rect">
            <a:avLst/>
          </a:prstGeom>
          <a:solidFill>
            <a:srgbClr val="22C55E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Phase 1 —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Document-Driven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AI BOQ parsing from tender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Manual A5 site data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Multi-stakeholder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Document RAG with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AI Advisor per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5 sustainability certifications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783080"/>
            <a:ext cx="3657600" cy="425196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783080"/>
            <a:ext cx="36576" cy="4251960"/>
          </a:xfrm>
          <a:prstGeom prst="rect">
            <a:avLst/>
          </a:prstGeom>
          <a:solidFill>
            <a:srgbClr val="FB923C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19019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B923C"/>
                </a:solidFill>
                <a:latin typeface="Segoe UI"/>
              </a:rPr>
              <a:t>Phase 2 — IoT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2128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Real-time Site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697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IoT fuel flow meters on-site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3108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Smart electricity sub-metering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3520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Water consumption sensors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Live A5 carbon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4343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Threshold alerts pre-breach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754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Automated anomaly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1783080"/>
            <a:ext cx="3657600" cy="425196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1783080"/>
            <a:ext cx="36576" cy="4251960"/>
          </a:xfrm>
          <a:prstGeom prst="rect">
            <a:avLst/>
          </a:prstGeom>
          <a:solidFill>
            <a:srgbClr val="A78BFA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19019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Segoe UI"/>
              </a:rPr>
              <a:t>Phase 3 — Future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2128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Predictive &amp; Autonomous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697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ML carbon forecasting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108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Automated procurement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520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Digital twin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B–C lifecycle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343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Blockchain audit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754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▸  Regulatory auto-reporting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263640"/>
            <a:ext cx="11155680" cy="384048"/>
          </a:xfrm>
          <a:prstGeom prst="rect">
            <a:avLst/>
          </a:prstGeom>
          <a:solidFill>
            <a:srgbClr val="0D1A0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1F5F9"/>
                </a:solidFill>
                <a:latin typeface="Segoe UI"/>
              </a:rPr>
              <a:t>"IoT transforms CarbonIQ from a carbon accounting system into a carbon control room — where decisions happen before the concrete is poured."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Segoe UI"/>
              </a:rPr>
              <a:t>COMPLIANCE &amp;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Segoe UI"/>
              </a:rPr>
              <a:t>Built on recognised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548640" cy="36576"/>
          </a:xfrm>
          <a:prstGeom prst="rect">
            <a:avLst/>
          </a:prstGeom>
          <a:solidFill>
            <a:srgbClr val="22C55E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394960" cy="228600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6576" cy="2286000"/>
          </a:xfrm>
          <a:prstGeom prst="rect">
            <a:avLst/>
          </a:prstGeom>
          <a:solidFill>
            <a:srgbClr val="22C55E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1F5F9"/>
                </a:solidFill>
                <a:latin typeface="Segoe UI"/>
              </a:rPr>
              <a:t>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ISO 21930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  <a:latin typeface="Segoe UI"/>
              </a:rPr>
              <a:t>Sustainability in Buildings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5292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The platform lifecycle phases (A1–A5) are aligned to ISO 21930 — the international standard for environmental declarations of building products and technical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394960" cy="228600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36576" cy="2286000"/>
          </a:xfrm>
          <a:prstGeom prst="rect">
            <a:avLst/>
          </a:prstGeom>
          <a:solidFill>
            <a:srgbClr val="60A5FA"/>
          </a:solidFill>
          <a:ln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2763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1F5F9"/>
                </a:solidFill>
                <a:latin typeface="Segoe UI"/>
              </a:rPr>
              <a:t>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762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Segoe UI"/>
              </a:rPr>
              <a:t>ICE Database v3.0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0A5FA"/>
                </a:solidFill>
                <a:latin typeface="Segoe UI"/>
              </a:rPr>
              <a:t>University of Bath / Circular Ecology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5292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Emission factors sourced from the most widely used embodied carbon dataset globally, with 200+ material types and coverage threshold quality controls.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Segoe UI"/>
              </a:rPr>
              <a:t>TRACKED CERTIFICATIONS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4370832"/>
            <a:ext cx="1691640" cy="502920"/>
          </a:xfrm>
          <a:prstGeom prst="rect">
            <a:avLst/>
          </a:prstGeom>
          <a:solidFill>
            <a:srgbClr val="141D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4074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  <a:latin typeface="Segoe UI"/>
              </a:rPr>
              <a:t>🏗️ Envision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4370832"/>
            <a:ext cx="1691640" cy="502920"/>
          </a:xfrm>
          <a:prstGeom prst="rect">
            <a:avLst/>
          </a:prstGeom>
          <a:solidFill>
            <a:srgbClr val="141D2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44074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D3EE"/>
                </a:solidFill>
                <a:latin typeface="Segoe UI"/>
              </a:rPr>
              <a:t>🏠 Mostadam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4370832"/>
            <a:ext cx="1691640" cy="502920"/>
          </a:xfrm>
          <a:prstGeom prst="rect">
            <a:avLst/>
          </a:prstGeom>
          <a:solidFill>
            <a:srgbClr val="141D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44074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  <a:latin typeface="Segoe UI"/>
              </a:rPr>
              <a:t>🌿 LEED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4370832"/>
            <a:ext cx="1691640" cy="502920"/>
          </a:xfrm>
          <a:prstGeom prst="rect">
            <a:avLst/>
          </a:prstGeom>
          <a:solidFill>
            <a:srgbClr val="141D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44074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0A5FA"/>
                </a:solidFill>
                <a:latin typeface="Segoe UI"/>
              </a:rPr>
              <a:t>🌍 BREEAM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4370832"/>
            <a:ext cx="1691640" cy="502920"/>
          </a:xfrm>
          <a:prstGeom prst="rect">
            <a:avLst/>
          </a:prstGeom>
          <a:solidFill>
            <a:srgbClr val="141D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4074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78BFA"/>
                </a:solidFill>
                <a:latin typeface="Segoe UI"/>
              </a:rPr>
              <a:t>💚 WELL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20640"/>
            <a:ext cx="11155680" cy="685800"/>
          </a:xfrm>
          <a:prstGeom prst="rect">
            <a:avLst/>
          </a:prstGeom>
          <a:solidFill>
            <a:srgbClr val="141D2E"/>
          </a:solidFill>
          <a:ln w="12700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1663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Each certification tracks its own carbon reduction credit and target threshold. CarbonIQ shows live progress against certification requirements — with gap analysis for what is still needed to qualify.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0" y="457200"/>
            <a:ext cx="7772400" cy="5943600"/>
          </a:xfrm>
          <a:prstGeom prst="ellipse">
            <a:avLst/>
          </a:prstGeom>
          <a:solidFill>
            <a:srgbClr val="0B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2C55E"/>
                </a:solidFill>
                <a:latin typeface="Segoe UI"/>
              </a:rPr>
              <a:t>CONSTRUCTION CARBON ACCOUNTABILITY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1F5F9"/>
                </a:solidFill>
                <a:latin typeface="Segoe UI"/>
              </a:rPr>
              <a:t>Make construction carbon
</a:t>
            </a:r>
            <a:r>
              <a:rPr sz="3600" b="1">
                <a:solidFill>
                  <a:srgbClr val="22C55E"/>
                </a:solidFill>
                <a:latin typeface="Segoe UI"/>
              </a:rPr>
              <a:t>visible, accountable,</a:t>
            </a:r>
            <a:r>
              <a:rPr sz="3600" b="1">
                <a:solidFill>
                  <a:srgbClr val="F1F5F9"/>
                </a:solidFill>
                <a:latin typeface="Segoe UI"/>
              </a:rPr>
              <a:t> and actionable.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7180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CarbonIQ connects every stakeholder, automates every data gap, and ensures every carbon decision is made before — not after — it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886200"/>
            <a:ext cx="2377440" cy="10058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59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C55E"/>
                </a:solidFill>
                <a:latin typeface="Segoe UI"/>
              </a:rPr>
              <a:t>A1–A5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4165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Lifecycle Phases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3886200"/>
            <a:ext cx="2377440" cy="10058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799" y="3959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0A5FA"/>
                </a:solidFill>
                <a:latin typeface="Segoe UI"/>
              </a:rPr>
              <a:t>3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44165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Intelligence Engines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59" y="3886200"/>
            <a:ext cx="2377440" cy="10058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3959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78BFA"/>
                </a:solidFill>
                <a:latin typeface="Segoe UI"/>
              </a:rPr>
              <a:t>3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799" y="44165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Stakeholder Accountability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886200"/>
            <a:ext cx="2377440" cy="10058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3959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B923C"/>
                </a:solidFill>
                <a:latin typeface="Segoe UI"/>
              </a:rPr>
              <a:t>IoT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44165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Real-time Roadmap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3886200"/>
            <a:ext cx="2377440" cy="1005840"/>
          </a:xfrm>
          <a:prstGeom prst="rect">
            <a:avLst/>
          </a:prstGeom>
          <a:solidFill>
            <a:srgbClr val="141D2E"/>
          </a:solidFill>
          <a:ln w="9525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3959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44165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Certifications Tracked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291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🌿  CarbonIQ  ·  ISO 21930  ·  ICE DB v3.0  ·  Multi-Stakeholder  ·  AI-Powered  ·  IoT-Ready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